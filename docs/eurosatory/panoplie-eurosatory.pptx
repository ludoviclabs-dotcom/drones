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OSINT · SOURCES OUVERTES · ANALYSE STRATÉGIQUE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Panoplie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9C97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Observatoire OSINT des systèmes de défense — </a:t>
            </a:r>
            <a:pPr algn="l" indent="0" marL="0">
              <a:buNone/>
            </a:pPr>
            <a:r>
              <a:rPr lang="en-US" sz="2600" i="1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sourcé, daté, comparable.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Coût · finance · supply chain · géopolitique · export. Une lecture stratégique, industrielle et financière — jamais opérationnelle.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923544" cy="41148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92040"/>
            <a:ext cx="92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0784" y="4892040"/>
            <a:ext cx="1680667" cy="41148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0784" y="4892040"/>
            <a:ext cx="16806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MULTI-DOMAINES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0051" y="4892040"/>
            <a:ext cx="3531413" cy="41148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0051" y="4892040"/>
            <a:ext cx="35314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 SYSTÈMES · 9 MARINES · 6 DOMAINES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EuroSatory 2026 · 15–19 juin · Paris-Nord Villepinte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LE PROBLÈME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système d'armes n'est jamais un simple achat.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474720" cy="29260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prix catalogue 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30175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coût réel se cache dans le MCO, les munitions, l'écosystème et la disponibilité — rarement dans le prix d'acquisition annoncé.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2377440"/>
            <a:ext cx="3474720" cy="29260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dépendances sont invisibles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3127248"/>
            <a:ext cx="30175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Capteurs, CMS, missiles, logiciels, réexport : la chaîne industrielle et les contrôles (ITAR, MTCR) décident autant que la plateforme.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474720" cy="29260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lecture comparée fiable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66760" y="3127248"/>
            <a:ext cx="30175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 catalogue technique et marketing, il manque une lecture sourcée, datée et honnête sur sa confiance.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C97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Panoplie comble ce vide : peu de systèmes, mais mieux documentés.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LA RÉPONSE PANOPLIE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observatoire OSINT, multi-domaines et auditable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affirmation est tracée jusqu'à sa source, notée en confiance et datée. La grille de lecture est la même partout : cinq briques, six paliers A–E.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26030" cy="27432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83280"/>
            <a:ext cx="2160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systèmes documentés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4710" y="2834640"/>
            <a:ext cx="2526030" cy="27432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7590" y="3383280"/>
            <a:ext cx="2160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577590" y="4572000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marines (France → Indo-Pacifique)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0780" y="2834640"/>
            <a:ext cx="2526030" cy="27432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3660" y="3383280"/>
            <a:ext cx="2160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23660" y="4572000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domaines à grille constante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6850" y="2834640"/>
            <a:ext cx="2526030" cy="27432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9730" y="3383280"/>
            <a:ext cx="21602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2 000+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269730" y="4572000"/>
            <a:ext cx="21602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affirmations tracées &amp; sourcées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LA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briques, six paliers, un registre de preuves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753405" cy="36576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5296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CINQ BRIQUES DE LECTURE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52962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algn="l" indent="0" marL="0">
              <a:buNone/>
            </a:pPr>
            <a:r>
              <a:rPr lang="en-US" sz="1500" b="1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 — </a:t>
            </a:r>
            <a:pPr algn="l" indent="0" marL="0">
              <a:buNone/>
            </a:pPr>
            <a:r>
              <a:rPr lang="en-US" sz="11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coût complet, pas le prix catalogue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355848"/>
            <a:ext cx="52962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algn="l" indent="0" marL="0">
              <a:buNone/>
            </a:pPr>
            <a:r>
              <a:rPr lang="en-US" sz="1500" b="1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— </a:t>
            </a:r>
            <a:pPr algn="l" indent="0" marL="0">
              <a:buNone/>
            </a:pPr>
            <a:r>
              <a:rPr lang="en-US" sz="11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canal d'acquisition, cycles budgétaires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922776"/>
            <a:ext cx="52962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algn="l" indent="0" marL="0">
              <a:buNone/>
            </a:pPr>
            <a:r>
              <a:rPr lang="en-US" sz="1500" b="1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 — </a:t>
            </a:r>
            <a:pPr algn="l" indent="0" marL="0">
              <a:buNone/>
            </a:pPr>
            <a:r>
              <a:rPr lang="en-US" sz="11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dépendances et fournisseurs critiques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489704"/>
            <a:ext cx="52962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algn="l" indent="0" marL="0">
              <a:buNone/>
            </a:pPr>
            <a:r>
              <a:rPr lang="en-US" sz="1500" b="1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Géopolitique — </a:t>
            </a:r>
            <a:pPr algn="l" indent="0" marL="0">
              <a:buNone/>
            </a:pPr>
            <a:r>
              <a:rPr lang="en-US" sz="11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rôle, autonomie, interopérabilité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056632"/>
            <a:ext cx="52962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algn="l" indent="0" marL="0">
              <a:buNone/>
            </a:pPr>
            <a:r>
              <a:rPr lang="en-US" sz="1500" b="1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— </a:t>
            </a:r>
            <a:pPr algn="l" indent="0" marL="0">
              <a:buNone/>
            </a:pPr>
            <a:r>
              <a:rPr lang="en-US" sz="11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régime de contrôle, réexport, attractivité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67805" y="2103120"/>
            <a:ext cx="4945075" cy="36576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6405" y="2286000"/>
            <a:ext cx="44878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PALIERS D'ÉVALUATION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96405" y="2788920"/>
            <a:ext cx="2152498" cy="457200"/>
          </a:xfrm>
          <a:prstGeom prst="rect">
            <a:avLst/>
          </a:prstGeom>
          <a:solidFill>
            <a:srgbClr val="272517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6133" y="2788920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Efficacité-coût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31782" y="2788920"/>
            <a:ext cx="2152498" cy="457200"/>
          </a:xfrm>
          <a:prstGeom prst="rect">
            <a:avLst/>
          </a:prstGeom>
          <a:solidFill>
            <a:srgbClr val="272517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41510" y="2788920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Survivabilité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6405" y="3355848"/>
            <a:ext cx="2152498" cy="457200"/>
          </a:xfrm>
          <a:prstGeom prst="rect">
            <a:avLst/>
          </a:prstGeom>
          <a:solidFill>
            <a:srgbClr val="272517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6133" y="3355848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Exportabilité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31782" y="3355848"/>
            <a:ext cx="2152498" cy="457200"/>
          </a:xfrm>
          <a:prstGeom prst="rect">
            <a:avLst/>
          </a:prstGeom>
          <a:solidFill>
            <a:srgbClr val="272517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1510" y="3355848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Risque industriel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96405" y="3922776"/>
            <a:ext cx="2152498" cy="457200"/>
          </a:xfrm>
          <a:prstGeom prst="rect">
            <a:avLst/>
          </a:prstGeom>
          <a:solidFill>
            <a:srgbClr val="272517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6133" y="3922776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Maturité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1782" y="3922776"/>
            <a:ext cx="2152498" cy="457200"/>
          </a:xfrm>
          <a:prstGeom prst="rect">
            <a:avLst/>
          </a:prstGeom>
          <a:solidFill>
            <a:srgbClr val="272517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1510" y="3922776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Confiance des données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96405" y="4709160"/>
            <a:ext cx="809793" cy="566928"/>
          </a:xfrm>
          <a:prstGeom prst="rect">
            <a:avLst/>
          </a:prstGeom>
          <a:solidFill>
            <a:srgbClr val="61805A"/>
          </a:solidFill>
          <a:ln w="12700">
            <a:solidFill>
              <a:srgbClr val="1615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6405" y="4709160"/>
            <a:ext cx="8097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815925" y="4709160"/>
            <a:ext cx="809793" cy="566928"/>
          </a:xfrm>
          <a:prstGeom prst="rect">
            <a:avLst/>
          </a:prstGeom>
          <a:solidFill>
            <a:srgbClr val="888A48"/>
          </a:solidFill>
          <a:ln w="12700">
            <a:solidFill>
              <a:srgbClr val="16150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5925" y="4709160"/>
            <a:ext cx="8097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735446" y="4709160"/>
            <a:ext cx="809793" cy="566928"/>
          </a:xfrm>
          <a:prstGeom prst="rect">
            <a:avLst/>
          </a:prstGeom>
          <a:solidFill>
            <a:srgbClr val="B3823A"/>
          </a:solidFill>
          <a:ln w="12700">
            <a:solidFill>
              <a:srgbClr val="1615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5446" y="4709160"/>
            <a:ext cx="8097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54967" y="4709160"/>
            <a:ext cx="809793" cy="566928"/>
          </a:xfrm>
          <a:prstGeom prst="rect">
            <a:avLst/>
          </a:prstGeom>
          <a:solidFill>
            <a:srgbClr val="B9602E"/>
          </a:solidFill>
          <a:ln w="12700">
            <a:solidFill>
              <a:srgbClr val="1615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54967" y="4709160"/>
            <a:ext cx="8097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574487" y="4709160"/>
            <a:ext cx="809793" cy="566928"/>
          </a:xfrm>
          <a:prstGeom prst="rect">
            <a:avLst/>
          </a:prstGeom>
          <a:solidFill>
            <a:srgbClr val="A83A2C"/>
          </a:solidFill>
          <a:ln w="12700">
            <a:solidFill>
              <a:srgbClr val="1615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74487" y="4709160"/>
            <a:ext cx="8097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96405" y="5367528"/>
            <a:ext cx="4487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excellent · E critique — chaque palier est argumenté, aucun n'est un score chiffré.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LA PREUVE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est traçable — la Console OSINT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06880" cy="914400"/>
          </a:xfrm>
          <a:prstGeom prst="rect">
            <a:avLst/>
          </a:prstGeom>
          <a:solidFill>
            <a:srgbClr val="1A1912"/>
          </a:solidFill>
          <a:ln w="12700">
            <a:solidFill>
              <a:srgbClr val="E07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286000"/>
            <a:ext cx="1560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37232" y="22860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0112" y="2286000"/>
            <a:ext cx="1706880" cy="91440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3264" y="2286000"/>
            <a:ext cx="1560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Affirmation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08704" y="22860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1584" y="2286000"/>
            <a:ext cx="1706880" cy="91440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4736" y="2286000"/>
            <a:ext cx="1560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(A–D)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0176" y="22860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2286000"/>
            <a:ext cx="1706880" cy="91440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2286000"/>
            <a:ext cx="1560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51648" y="22860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34528" y="2286000"/>
            <a:ext cx="1706880" cy="91440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7680" y="2286000"/>
            <a:ext cx="1560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23120" y="22860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06000" y="2286000"/>
            <a:ext cx="1706880" cy="91440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79152" y="2286000"/>
            <a:ext cx="1560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Fraîcheur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474720" cy="22860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58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Compteurs dérivés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4407408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Aucun chiffre saisi à la main — tout vient des données. Date d'arrêté du registre affichée.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474720" cy="22860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858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Filtres &amp; export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407408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Domaine, confiance, source primaire/secondaire, fraîcheur. Export CSV / JSON du jeu filtré.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657600"/>
            <a:ext cx="3474720" cy="22860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858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de confiance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66760" y="4407408"/>
            <a:ext cx="30175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 section de dossier : où la preuve est solide, où elle reste fragile.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LES DOMAINES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domaines, neuf marines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05200" cy="8686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Drones &amp; munitions rôdeuses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28160" y="2148840"/>
            <a:ext cx="3505200" cy="8686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6760" y="214884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Énergie dirigée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07680" y="2148840"/>
            <a:ext cx="3505200" cy="8686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6280" y="214884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Aviation de combat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3505200" cy="8686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9184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8160" y="3291840"/>
            <a:ext cx="3505200" cy="8686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6760" y="329184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Radars &amp; capteurs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7680" y="3291840"/>
            <a:ext cx="3505200" cy="86868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6280" y="329184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Bâtiments navals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417320"/>
          </a:xfrm>
          <a:prstGeom prst="rect">
            <a:avLst/>
          </a:prstGeom>
          <a:solidFill>
            <a:srgbClr val="272517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 NAVAL — NEUF MARINES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· États-Unis · Royaume-Uni · Italie · Espagne · Allemagne · Japon · Corée du Sud · Chine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Porte-avions, destroyers Aegis, frégates, sous-marins AIP, amphibies — Chine traitée en confiance abaissée et triangulée.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LA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Comparer des architectures, pas des noms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74720" cy="210312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pays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035808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Charger toutes les unités d'une marine et les confronter dans un domaine.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474720" cy="210312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famille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3035808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Frégates contre frégates, destroyers contre destroyers — entre frères.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474720" cy="210312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système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66760" y="3035808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Plateforme → capteurs → CMS/C2 → effecteurs → industriels, côte à côte.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92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 de démo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9C97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(JP) · KDX-III Batch II (KR) · Arleigh Burke (US) — même brique Aegis, lectures export et souveraineté différentes, paliers A–E argumentés.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PRODUIT &amp; 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CE6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produit, pas un site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DE DONNÉES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95805" cy="77724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194560"/>
            <a:ext cx="198607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90749" y="2194560"/>
            <a:ext cx="2095805" cy="77724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5613" y="2194560"/>
            <a:ext cx="198607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32858" y="2194560"/>
            <a:ext cx="2095805" cy="77724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7722" y="2194560"/>
            <a:ext cx="198607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Revue éditoriale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74966" y="2194560"/>
            <a:ext cx="2095805" cy="77724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9830" y="2194560"/>
            <a:ext cx="198607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Confiance + fiabilité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517075" y="2194560"/>
            <a:ext cx="2095805" cy="777240"/>
          </a:xfrm>
          <a:prstGeom prst="rect">
            <a:avLst/>
          </a:prstGeom>
          <a:solidFill>
            <a:srgbClr val="1A1912"/>
          </a:solidFill>
          <a:ln w="12700">
            <a:solidFill>
              <a:srgbClr val="4C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1939" y="2194560"/>
            <a:ext cx="198607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349240" cy="18288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301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Feuille de route (post-salon)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178808"/>
            <a:ext cx="4892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Défense aérienne &amp; antimissile (SAMP/T, Patriot, NASAMS, Arrow 3) · Systèmes de combat / C2 IAMD (Aegis, TACTICOS, IBCS) · vague navale (F127, Type 076, KDDX).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429000"/>
            <a:ext cx="5349240" cy="1828800"/>
          </a:xfrm>
          <a:prstGeom prst="rect">
            <a:avLst/>
          </a:prstGeom>
          <a:solidFill>
            <a:srgbClr val="1A1912"/>
          </a:solidFill>
          <a:ln w="12700">
            <a:solidFill>
              <a:srgbClr val="3330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301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0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d'usage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4178808"/>
            <a:ext cx="4892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97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Industriels (supply chain, ITAR) · institutionnels (méthode, preuve) · analystes &amp; presse (Console, export, sources primaires).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Cadre éthique — analyse capacitaire, industrielle et publique uniquement. Pas d'aide au ciblage, pas de paramètres tactiques.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0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drones-mu.vercel.app · ludoviclabs@gmail.com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PANOPLIE · OSINT · drones-mu.vercel.app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8D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Panoplie pour EuroSatory 2026</dc:title>
  <dc:subject>PptxGenJS Presentation</dc:subject>
  <dc:creator>Panoplie</dc:creator>
  <cp:lastModifiedBy>Panoplie</cp:lastModifiedBy>
  <cp:revision>1</cp:revision>
  <dcterms:created xsi:type="dcterms:W3CDTF">2026-06-03T11:22:35Z</dcterms:created>
  <dcterms:modified xsi:type="dcterms:W3CDTF">2026-06-03T11:22:35Z</dcterms:modified>
</cp:coreProperties>
</file>